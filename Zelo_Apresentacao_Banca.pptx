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0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261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511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Meu nome é Maik Medeiros Moreira, RA N367FC1, do curso de Sistemas de Informação da UNIP, campus Paraíso, sob orientação do professor Mario Quinello.
Vou apresentar o Zelo: uma plataforma de comunicação entre escola e família cuja contribuição não é o mural de recados — é o controle de acesso que decide, para cada informação, exatamente quem tem direito de vê-la.
Nos próximos quinze minutos eu apresento o problema, o modelo que construí, mostro o sistema funcionando e fecho com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problema surge do encontro de três fatos.</a:t>
            </a:r>
          </a:p>
          <a:p>
            <a:r>
              <a:rPr lang="pt-BR" b="1" dirty="0"/>
              <a:t>Primeiro:</a:t>
            </a:r>
            <a:r>
              <a:rPr lang="pt-BR" dirty="0"/>
              <a:t> a educação infantil produz registros o tempo todo, como fotos, vídeos, relatórios de adaptação e recados na agenda. Esse material é, inclusive, um dos mais valorizados pelas famílias.</a:t>
            </a:r>
          </a:p>
          <a:p>
            <a:r>
              <a:rPr lang="pt-BR" b="1" dirty="0"/>
              <a:t>Segundo:</a:t>
            </a:r>
            <a:r>
              <a:rPr lang="pt-BR" dirty="0"/>
              <a:t> esses registros contêm dados pessoais das crianças. Por isso, a LGPD estabelece regras específicas para esse tipo de dado em seu artigo 14. Entre elas estão o consentimento de um dos pais ou do responsável legal, a definição clara da finalidade do uso das informações e a possibilidade de retirar esse consentimento a qualquer momento.</a:t>
            </a:r>
          </a:p>
          <a:p>
            <a:r>
              <a:rPr lang="pt-BR" b="1" dirty="0"/>
              <a:t>Terceiro</a:t>
            </a:r>
            <a:r>
              <a:rPr lang="pt-BR" dirty="0"/>
              <a:t> — e é aqui que está a principal contribuição deste trabalho —, organizar as informações apenas por turma não resolve o problema. Isso porque crianças que estão na mesma sala pertencem a famílias diferentes e, portanto, seus registros não devem ser tratados como se fossem de uma mesma família. O relatório do Théo, por exemplo, diz respeito à família dele, e não à família da Helena, mesmo que os dois estudem na mesma turma e sentem lado a lado.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Daí surge a pergunta que orienta todo o trabalho: </a:t>
            </a:r>
            <a:r>
              <a:rPr lang="pt-BR" b="1" dirty="0"/>
              <a:t>como entregar cada informação exatamente a quem tem direito a ela — nem mais, nem menos?</a:t>
            </a:r>
            <a:endParaRPr lang="pt-BR" dirty="0"/>
          </a:p>
          <a:p>
            <a:r>
              <a:rPr lang="pt-BR" dirty="0"/>
              <a:t>Isso não é apenas uma preocupação acadêmica. Na segurança de sistemas, o </a:t>
            </a:r>
            <a:r>
              <a:rPr lang="pt-BR" b="1" dirty="0" err="1"/>
              <a:t>Broken</a:t>
            </a:r>
            <a:r>
              <a:rPr lang="pt-BR" b="1" dirty="0"/>
              <a:t> Access </a:t>
            </a:r>
            <a:r>
              <a:rPr lang="pt-BR" b="1" dirty="0" err="1"/>
              <a:t>Control</a:t>
            </a:r>
            <a:r>
              <a:rPr lang="pt-BR" dirty="0"/>
              <a:t> é a principal categoria do </a:t>
            </a:r>
            <a:r>
              <a:rPr lang="pt-BR" b="1" dirty="0"/>
              <a:t>OWASP Top 10</a:t>
            </a:r>
            <a:r>
              <a:rPr lang="pt-BR" dirty="0"/>
              <a:t> de 2021.</a:t>
            </a:r>
          </a:p>
          <a:p>
            <a:r>
              <a:rPr lang="pt-BR" dirty="0"/>
              <a:t>Uma das formas mais comuns desse problema é o </a:t>
            </a:r>
            <a:r>
              <a:rPr lang="pt-BR" b="1" dirty="0"/>
              <a:t>IDOR</a:t>
            </a:r>
            <a:r>
              <a:rPr lang="pt-BR" dirty="0"/>
              <a:t> (</a:t>
            </a:r>
            <a:r>
              <a:rPr lang="pt-BR" i="1" dirty="0" err="1"/>
              <a:t>Insecure</a:t>
            </a:r>
            <a:r>
              <a:rPr lang="pt-BR" i="1" dirty="0"/>
              <a:t> </a:t>
            </a:r>
            <a:r>
              <a:rPr lang="pt-BR" i="1" dirty="0" err="1"/>
              <a:t>Direct</a:t>
            </a:r>
            <a:r>
              <a:rPr lang="pt-BR" i="1" dirty="0"/>
              <a:t> </a:t>
            </a:r>
            <a:r>
              <a:rPr lang="pt-BR" i="1" dirty="0" err="1"/>
              <a:t>Object</a:t>
            </a:r>
            <a:r>
              <a:rPr lang="pt-BR" i="1" dirty="0"/>
              <a:t> </a:t>
            </a:r>
            <a:r>
              <a:rPr lang="pt-BR" i="1" dirty="0" err="1"/>
              <a:t>Reference</a:t>
            </a:r>
            <a:r>
              <a:rPr lang="pt-BR" dirty="0"/>
              <a:t>). Ele acontece quando o sistema verifica se o usuário está </a:t>
            </a:r>
            <a:r>
              <a:rPr lang="pt-BR" dirty="0" err="1"/>
              <a:t>logado</a:t>
            </a:r>
            <a:r>
              <a:rPr lang="pt-BR" dirty="0"/>
              <a:t>, mas não verifica se ele realmente tem acesso àquele registro.</a:t>
            </a:r>
          </a:p>
          <a:p>
            <a:r>
              <a:rPr lang="pt-BR" dirty="0"/>
              <a:t>Na prática, uma simples alteração no número da URL pode fazer com que uma pessoa veja, indevidamente, o registro de outra criança.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Analisei as plataformas usadas hoje por escolas de educação infantil.</a:t>
            </a:r>
          </a:p>
          <a:p>
            <a:r>
              <a:rPr lang="pt-BR" b="1" dirty="0"/>
              <a:t>Do lado esquerdo</a:t>
            </a:r>
            <a:r>
              <a:rPr lang="pt-BR" dirty="0"/>
              <a:t>, estão recursos que elas já oferecem bem: mural por turma, agenda, comunicados, envio de mídias e aplicativo para as famílias. Isso já é commodity.</a:t>
            </a:r>
          </a:p>
          <a:p>
            <a:r>
              <a:rPr lang="pt-BR" b="1" dirty="0"/>
              <a:t>Do lado direito</a:t>
            </a:r>
            <a:r>
              <a:rPr lang="pt-BR" dirty="0"/>
              <a:t>, estão as lacunas. O acesso geralmente é definido até o nível da turma, sem considerar cada criança e cada família. O consentimento de imagem, quando existe, costuma ser apenas um campo booleano, sem histórico que permita saber o que estava autorizado em determinado momento.</a:t>
            </a:r>
          </a:p>
          <a:p>
            <a:r>
              <a:rPr lang="pt-BR" b="1" dirty="0"/>
              <a:t>Ou seja:</a:t>
            </a:r>
            <a:r>
              <a:rPr lang="pt-BR" dirty="0"/>
              <a:t> a lacuna não está nas funcionalidades, mas na </a:t>
            </a:r>
            <a:r>
              <a:rPr lang="pt-BR" b="1" dirty="0"/>
              <a:t>granularidade da autorização</a:t>
            </a:r>
            <a:r>
              <a:rPr lang="pt-BR" dirty="0"/>
              <a:t>. É justamente nesse ponto que este trabalho se concentra.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objetivo geral</a:t>
            </a:r>
            <a:r>
              <a:rPr lang="pt-BR" dirty="0"/>
              <a:t> é projetar, construir e verificar uma plataforma cujo modelo de autorização considere dois pontos: </a:t>
            </a:r>
            <a:r>
              <a:rPr lang="pt-BR" b="1" dirty="0"/>
              <a:t>o que o usuário pode fazer e quais registros ele pode acessar</a:t>
            </a:r>
            <a:r>
              <a:rPr lang="pt-BR" dirty="0"/>
              <a:t>. Além disso, o trabalho busca comprovar, na prática, que esse modelo funciona corretamente.</a:t>
            </a:r>
          </a:p>
          <a:p>
            <a:r>
              <a:rPr lang="pt-BR" dirty="0"/>
              <a:t>Para a banca, há </a:t>
            </a:r>
            <a:r>
              <a:rPr lang="pt-BR" b="1" dirty="0"/>
              <a:t>duas delimitações importantes</a:t>
            </a:r>
            <a:r>
              <a:rPr lang="pt-BR" dirty="0"/>
              <a:t>.</a:t>
            </a:r>
          </a:p>
          <a:p>
            <a:r>
              <a:rPr lang="pt-BR" b="1" dirty="0"/>
              <a:t>Primeira:</a:t>
            </a:r>
            <a:r>
              <a:rPr lang="pt-BR" dirty="0"/>
              <a:t> esta versão é voltada exclusivamente à </a:t>
            </a:r>
            <a:r>
              <a:rPr lang="pt-BR" b="1" dirty="0"/>
              <a:t>educação infantil</a:t>
            </a:r>
            <a:r>
              <a:rPr lang="pt-BR" dirty="0"/>
              <a:t>, onde a relação entre criança e responsável é mais direta e a produção de registros é intensa.</a:t>
            </a:r>
          </a:p>
          <a:p>
            <a:r>
              <a:rPr lang="pt-BR" b="1" dirty="0"/>
              <a:t>Segunda:</a:t>
            </a:r>
            <a:r>
              <a:rPr lang="pt-BR" dirty="0"/>
              <a:t> a visão computacional, prevista inicialmente, foi retirada por uma decisão metodológica. O </a:t>
            </a:r>
            <a:r>
              <a:rPr lang="pt-BR" b="1" dirty="0"/>
              <a:t>NIST</a:t>
            </a:r>
            <a:r>
              <a:rPr lang="pt-BR" dirty="0"/>
              <a:t> aponta limitações no reconhecimento facial de crianças pequenas, e desenvolver ou validar um modelo próprio exigiria trabalhar com imagens reais de menores, o que não seria adequado ao escopo ético deste trabalho.</a:t>
            </a:r>
          </a:p>
          <a:p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metodologia utilizada é a </a:t>
            </a:r>
            <a:r>
              <a:rPr lang="pt-BR" b="1" dirty="0"/>
              <a:t>Design Science </a:t>
            </a:r>
            <a:r>
              <a:rPr lang="pt-BR" b="1" dirty="0" err="1"/>
              <a:t>Research</a:t>
            </a:r>
            <a:r>
              <a:rPr lang="pt-BR" b="1" dirty="0"/>
              <a:t> (DSR)</a:t>
            </a:r>
            <a:r>
              <a:rPr lang="pt-BR" dirty="0"/>
              <a:t>, proposta por </a:t>
            </a:r>
            <a:r>
              <a:rPr lang="pt-BR" dirty="0" err="1"/>
              <a:t>Peffers</a:t>
            </a:r>
            <a:r>
              <a:rPr lang="pt-BR" dirty="0"/>
              <a:t> e colegas em 2007.</a:t>
            </a:r>
          </a:p>
          <a:p>
            <a:r>
              <a:rPr lang="pt-BR" dirty="0"/>
              <a:t>A escolha é importante porque, na DSR, o sistema não é apenas o resultado da pesquisa: </a:t>
            </a:r>
            <a:r>
              <a:rPr lang="pt-BR" b="1" dirty="0"/>
              <a:t>ele é usado como instrumento para investigar e aprender com o problema</a:t>
            </a:r>
            <a:r>
              <a:rPr lang="pt-BR" dirty="0"/>
              <a:t>.</a:t>
            </a:r>
          </a:p>
          <a:p>
            <a:r>
              <a:rPr lang="pt-BR" dirty="0"/>
              <a:t>A metodologia possui seis etapas: </a:t>
            </a:r>
            <a:r>
              <a:rPr lang="pt-BR" b="1" dirty="0"/>
              <a:t>identificar o problema, definir os objetivos, projetar, demonstrar, avaliar e comunicar</a:t>
            </a:r>
            <a:r>
              <a:rPr lang="pt-BR" dirty="0"/>
              <a:t>.</a:t>
            </a:r>
          </a:p>
          <a:p>
            <a:r>
              <a:rPr lang="pt-BR" dirty="0"/>
              <a:t>Neste trabalho, destaco as duas últimas etapas do desenvolvimento: a </a:t>
            </a:r>
            <a:r>
              <a:rPr lang="pt-BR" b="1" dirty="0"/>
              <a:t>demonstração</a:t>
            </a:r>
            <a:r>
              <a:rPr lang="pt-BR" dirty="0"/>
              <a:t>, que é o sistema em funcionamento e que vocês verão a seguir, e a </a:t>
            </a:r>
            <a:r>
              <a:rPr lang="pt-BR" b="1" dirty="0"/>
              <a:t>avaliação</a:t>
            </a:r>
            <a:r>
              <a:rPr lang="pt-BR" dirty="0"/>
              <a:t>, feita por meio de uma matriz de personas executada no sistema real.</a:t>
            </a:r>
          </a:p>
          <a:p>
            <a:r>
              <a:rPr lang="pt-BR" dirty="0"/>
              <a:t>Foi justamente esse processo, junto à escola parceira, que levou ao principal achado apresentado no final.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 é a </a:t>
            </a:r>
            <a:r>
              <a:rPr lang="pt-BR" b="1" dirty="0"/>
              <a:t>contribuição central do trabalho</a:t>
            </a:r>
            <a:r>
              <a:rPr lang="pt-BR" dirty="0"/>
              <a:t> e o slide que eu gostaria que a banca guardasse.</a:t>
            </a:r>
          </a:p>
          <a:p>
            <a:r>
              <a:rPr lang="pt-BR" dirty="0"/>
              <a:t>A autorização funciona em </a:t>
            </a:r>
            <a:r>
              <a:rPr lang="pt-BR" b="1" dirty="0"/>
              <a:t>dois eixos independentes</a:t>
            </a:r>
            <a:r>
              <a:rPr lang="pt-BR" dirty="0"/>
              <a:t>.</a:t>
            </a:r>
          </a:p>
          <a:p>
            <a:r>
              <a:rPr lang="pt-BR" dirty="0"/>
              <a:t>O primeiro é a </a:t>
            </a:r>
            <a:r>
              <a:rPr lang="pt-BR" b="1" dirty="0"/>
              <a:t>capacidade</a:t>
            </a:r>
            <a:r>
              <a:rPr lang="pt-BR" dirty="0"/>
              <a:t>: o que o usuário pode fazer. É o RBAC clássico, de </a:t>
            </a:r>
            <a:r>
              <a:rPr lang="pt-BR" dirty="0" err="1"/>
              <a:t>Sandhu</a:t>
            </a:r>
            <a:r>
              <a:rPr lang="pt-BR" dirty="0"/>
              <a:t> e colegas, de 1996. As permissões seguem o formato </a:t>
            </a:r>
            <a:r>
              <a:rPr lang="pt-BR" b="1" dirty="0"/>
              <a:t>AÇÃO:RECURSO</a:t>
            </a:r>
            <a:r>
              <a:rPr lang="pt-BR" dirty="0"/>
              <a:t>, como VIEW:POST, CREATE:POST e DELETE:REPORT.</a:t>
            </a:r>
          </a:p>
          <a:p>
            <a:r>
              <a:rPr lang="pt-BR" dirty="0"/>
              <a:t>O segundo é a </a:t>
            </a:r>
            <a:r>
              <a:rPr lang="pt-BR" b="1" dirty="0"/>
              <a:t>abrangência</a:t>
            </a:r>
            <a:r>
              <a:rPr lang="pt-BR" dirty="0"/>
              <a:t>: sobre quais registros essa ação pode ser realizada. Ela pode ser </a:t>
            </a:r>
            <a:r>
              <a:rPr lang="pt-BR" b="1" dirty="0"/>
              <a:t>PRÓPRIA, TURMA ou ESCOLA</a:t>
            </a:r>
            <a:r>
              <a:rPr lang="pt-BR" dirty="0"/>
              <a:t>.</a:t>
            </a:r>
          </a:p>
          <a:p>
            <a:r>
              <a:rPr lang="pt-BR" dirty="0"/>
              <a:t>E os dois eixos precisam ser aplicados juntos. Ter VIEW:REPORT, por exemplo, não significa poder ver qualquer relatório. Significa poder ver os relatórios que estão </a:t>
            </a:r>
            <a:r>
              <a:rPr lang="pt-BR" b="1" dirty="0"/>
              <a:t>dentro da sua abrangência</a:t>
            </a:r>
            <a:r>
              <a:rPr lang="pt-BR" dirty="0"/>
              <a:t>.</a:t>
            </a:r>
          </a:p>
          <a:p>
            <a:r>
              <a:rPr lang="pt-BR" dirty="0"/>
              <a:t>Essa separação é o ponto central da proposta: o RBAC define </a:t>
            </a:r>
            <a:r>
              <a:rPr lang="pt-BR" b="1" dirty="0"/>
              <a:t>o que</a:t>
            </a:r>
            <a:r>
              <a:rPr lang="pt-BR" dirty="0"/>
              <a:t> o usuário pode fazer, enquanto a abrangência define </a:t>
            </a:r>
            <a:r>
              <a:rPr lang="pt-BR" b="1" dirty="0"/>
              <a:t>onde</a:t>
            </a:r>
            <a:r>
              <a:rPr lang="pt-BR" dirty="0"/>
              <a:t> ele pode fazer.</a:t>
            </a:r>
          </a:p>
          <a:p>
            <a:r>
              <a:rPr lang="pt-BR" dirty="0"/>
              <a:t>Na implementação, isso também traz uma consequência importante: o filtro de abrangência é aplicado diretamente no </a:t>
            </a:r>
            <a:r>
              <a:rPr lang="pt-BR" b="1" dirty="0"/>
              <a:t>SQL</a:t>
            </a:r>
            <a:r>
              <a:rPr lang="pt-BR" dirty="0"/>
              <a:t>, dentro da cláusula WHERE. Não é um </a:t>
            </a:r>
            <a:r>
              <a:rPr lang="pt-BR" dirty="0" err="1"/>
              <a:t>if</a:t>
            </a:r>
            <a:r>
              <a:rPr lang="pt-BR" dirty="0"/>
              <a:t> depois da consulta. Assim, registros fora do escopo </a:t>
            </a:r>
            <a:r>
              <a:rPr lang="pt-BR" b="1" dirty="0"/>
              <a:t>nem chegam à aplicação</a:t>
            </a:r>
            <a:r>
              <a:rPr lang="pt-B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abrangência de </a:t>
            </a:r>
            <a:r>
              <a:rPr lang="pt-BR" b="1" dirty="0"/>
              <a:t>turma</a:t>
            </a:r>
            <a:r>
              <a:rPr lang="pt-BR" dirty="0"/>
              <a:t> tem exatamente três origens no sistema, e nenhuma delas é definida pelo cargo.</a:t>
            </a:r>
          </a:p>
          <a:p>
            <a:r>
              <a:rPr lang="pt-BR" dirty="0"/>
              <a:t>A primeira é a </a:t>
            </a:r>
            <a:r>
              <a:rPr lang="pt-BR" b="1" dirty="0"/>
              <a:t>família</a:t>
            </a:r>
            <a:r>
              <a:rPr lang="pt-BR" dirty="0"/>
              <a:t>: o responsável acessa a turma porque tem um filho matriculado nela, por meio do vínculo de responsabilidade e da matrícula vigente.</a:t>
            </a:r>
          </a:p>
          <a:p>
            <a:r>
              <a:rPr lang="pt-BR" dirty="0"/>
              <a:t>A segunda é a </a:t>
            </a:r>
            <a:r>
              <a:rPr lang="pt-BR" b="1" dirty="0"/>
              <a:t>docência</a:t>
            </a:r>
            <a:r>
              <a:rPr lang="pt-BR" dirty="0"/>
              <a:t>: a professora acessa a turma em que está atribuída. Esse vínculo tem função e vigência. Ao mudar de turma, o vínculo anterior é encerrado e um novo é criado, preservando o histórico.</a:t>
            </a:r>
          </a:p>
          <a:p>
            <a:r>
              <a:rPr lang="pt-BR" dirty="0"/>
              <a:t>A terceira é a </a:t>
            </a:r>
            <a:r>
              <a:rPr lang="pt-BR" b="1" dirty="0"/>
              <a:t>concessão explícita</a:t>
            </a:r>
            <a:r>
              <a:rPr lang="pt-BR" dirty="0"/>
              <a:t>. Coordenação, direção e secretaria não recebem acesso automático. Quando precisam de acesso, ele deve ser concedido, registrando </a:t>
            </a:r>
            <a:r>
              <a:rPr lang="pt-BR" b="1" dirty="0"/>
              <a:t>quem concedeu, quando, por quê e até quando</a:t>
            </a:r>
            <a:r>
              <a:rPr lang="pt-BR" dirty="0"/>
              <a:t>.</a:t>
            </a:r>
          </a:p>
          <a:p>
            <a:r>
              <a:rPr lang="pt-BR" dirty="0"/>
              <a:t>Assim, o sistema não apenas controla o acesso. Ele consegue responder a uma pergunta essencial em uma auditoria: </a:t>
            </a:r>
            <a:r>
              <a:rPr lang="pt-BR" b="1" dirty="0"/>
              <a:t>por que esta pessoa teve acesso a este dado?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decisão pequena no código, mas grande na consequência: quando o registro existe, mas está fora da abrangência do usuário, o sistema responde </a:t>
            </a:r>
            <a:r>
              <a:rPr lang="pt-BR" b="1" dirty="0"/>
              <a:t>404</a:t>
            </a:r>
            <a:r>
              <a:rPr lang="pt-BR" dirty="0"/>
              <a:t>, e não </a:t>
            </a:r>
            <a:r>
              <a:rPr lang="pt-BR" b="1" dirty="0"/>
              <a:t>403</a:t>
            </a:r>
            <a:r>
              <a:rPr lang="pt-BR" dirty="0"/>
              <a:t>.</a:t>
            </a:r>
          </a:p>
          <a:p>
            <a:r>
              <a:rPr lang="pt-BR" dirty="0"/>
              <a:t>O motivo é simples: o </a:t>
            </a:r>
            <a:r>
              <a:rPr lang="pt-BR" b="1" dirty="0"/>
              <a:t>403</a:t>
            </a:r>
            <a:r>
              <a:rPr lang="pt-BR" dirty="0"/>
              <a:t> indica que o recurso existe, mas o usuário não tem permissão. Isso já revela que existe um registro daquela criança.</a:t>
            </a:r>
          </a:p>
          <a:p>
            <a:r>
              <a:rPr lang="pt-BR" dirty="0"/>
              <a:t>Já o </a:t>
            </a:r>
            <a:r>
              <a:rPr lang="pt-BR" b="1" dirty="0"/>
              <a:t>404</a:t>
            </a:r>
            <a:r>
              <a:rPr lang="pt-BR" dirty="0"/>
              <a:t> faz com que, para aquele usuário, o recurso pareça não existir. Assim, não revelamos nem a existência do dado.</a:t>
            </a:r>
          </a:p>
          <a:p>
            <a:r>
              <a:rPr lang="pt-BR" dirty="0"/>
              <a:t>Essa abordagem é prevista pela </a:t>
            </a:r>
            <a:r>
              <a:rPr lang="pt-BR" b="1" dirty="0"/>
              <a:t>RFC 9110</a:t>
            </a:r>
            <a:r>
              <a:rPr lang="pt-BR" dirty="0"/>
              <a:t>, que permite o uso do 404 quando o servidor não quer revelar a existência de um recurso.</a:t>
            </a:r>
          </a:p>
          <a:p>
            <a:r>
              <a:rPr lang="pt-BR" dirty="0"/>
              <a:t>O </a:t>
            </a:r>
            <a:r>
              <a:rPr lang="pt-BR" b="1" dirty="0"/>
              <a:t>403</a:t>
            </a:r>
            <a:r>
              <a:rPr lang="pt-BR" dirty="0"/>
              <a:t> continua sendo usado quando o recurso pode ser identificado, mas o usuário não possui a permissão necessária.</a:t>
            </a:r>
          </a:p>
          <a:p>
            <a:r>
              <a:rPr lang="pt-BR" dirty="0"/>
              <a:t>Essa distinção será importante para entender a matriz de resultados que veremos a seguir.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implantação é composta por </a:t>
            </a:r>
            <a:r>
              <a:rPr lang="pt-BR" b="1" dirty="0"/>
              <a:t>três processos</a:t>
            </a:r>
            <a:r>
              <a:rPr lang="pt-BR" dirty="0"/>
              <a:t>. O navegador conversa apenas com o servidor de </a:t>
            </a:r>
            <a:r>
              <a:rPr lang="pt-BR" dirty="0" err="1"/>
              <a:t>renderização</a:t>
            </a:r>
            <a:r>
              <a:rPr lang="pt-BR" dirty="0"/>
              <a:t>, que é responsável por acessar a API. O endereço da API fica somente no servidor: é o padrão </a:t>
            </a:r>
            <a:r>
              <a:rPr lang="pt-BR" b="1" dirty="0" err="1"/>
              <a:t>Backend</a:t>
            </a:r>
            <a:r>
              <a:rPr lang="pt-BR" b="1" dirty="0"/>
              <a:t> for </a:t>
            </a:r>
            <a:r>
              <a:rPr lang="pt-BR" b="1" dirty="0" err="1"/>
              <a:t>Frontend</a:t>
            </a:r>
            <a:r>
              <a:rPr lang="pt-BR" b="1" dirty="0"/>
              <a:t>, ou BFF</a:t>
            </a:r>
            <a:r>
              <a:rPr lang="pt-BR" dirty="0"/>
              <a:t>.</a:t>
            </a:r>
          </a:p>
          <a:p>
            <a:r>
              <a:rPr lang="pt-BR" dirty="0"/>
              <a:t>Há três decisões de arquitetura que destaco.</a:t>
            </a:r>
          </a:p>
          <a:p>
            <a:r>
              <a:rPr lang="pt-BR" b="1" dirty="0"/>
              <a:t>Primeira:</a:t>
            </a:r>
            <a:r>
              <a:rPr lang="pt-BR" dirty="0"/>
              <a:t> não utilizei ORM. Foi uma escolha deliberada para manter o filtro de abrangência diretamente no SQL, tornando a regra mais fácil de visualizar e auditar.</a:t>
            </a:r>
          </a:p>
          <a:p>
            <a:r>
              <a:rPr lang="pt-BR" b="1" dirty="0"/>
              <a:t>Segunda:</a:t>
            </a:r>
            <a:r>
              <a:rPr lang="pt-BR" dirty="0"/>
              <a:t> adotei o </a:t>
            </a:r>
            <a:r>
              <a:rPr lang="pt-BR" b="1" dirty="0"/>
              <a:t>BFF</a:t>
            </a:r>
            <a:r>
              <a:rPr lang="pt-BR" dirty="0"/>
              <a:t>, impedindo que o navegador acesse a API diretamente.</a:t>
            </a:r>
          </a:p>
          <a:p>
            <a:r>
              <a:rPr lang="pt-BR" b="1" dirty="0"/>
              <a:t>Terceira:</a:t>
            </a:r>
            <a:r>
              <a:rPr lang="pt-BR" dirty="0"/>
              <a:t> utilizei </a:t>
            </a:r>
            <a:r>
              <a:rPr lang="pt-BR" b="1" dirty="0"/>
              <a:t>persistência poliglota</a:t>
            </a:r>
            <a:r>
              <a:rPr lang="pt-BR" dirty="0"/>
              <a:t>: </a:t>
            </a:r>
            <a:r>
              <a:rPr lang="pt-BR" dirty="0" err="1"/>
              <a:t>PostgreSQL</a:t>
            </a:r>
            <a:r>
              <a:rPr lang="pt-BR" dirty="0"/>
              <a:t> para os dados transacionais, com 37 tabelas, e </a:t>
            </a:r>
            <a:r>
              <a:rPr lang="pt-BR" dirty="0" err="1"/>
              <a:t>MongoDB</a:t>
            </a:r>
            <a:r>
              <a:rPr lang="pt-BR" dirty="0"/>
              <a:t> para o registro de eventos.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números: cerca de </a:t>
            </a:r>
            <a:r>
              <a:rPr lang="pt-BR" b="1" dirty="0"/>
              <a:t>35.700 linhas de </a:t>
            </a:r>
            <a:r>
              <a:rPr lang="pt-BR" b="1" dirty="0" err="1"/>
              <a:t>TypeScript</a:t>
            </a:r>
            <a:r>
              <a:rPr lang="pt-BR" dirty="0"/>
              <a:t>, </a:t>
            </a:r>
            <a:r>
              <a:rPr lang="pt-BR" b="1" dirty="0"/>
              <a:t>94 rotas na API</a:t>
            </a:r>
            <a:r>
              <a:rPr lang="pt-BR" dirty="0"/>
              <a:t>, sendo apenas uma pública — a de </a:t>
            </a:r>
            <a:r>
              <a:rPr lang="pt-BR" dirty="0" err="1"/>
              <a:t>login</a:t>
            </a:r>
            <a:r>
              <a:rPr lang="pt-BR" dirty="0"/>
              <a:t>. São </a:t>
            </a:r>
            <a:r>
              <a:rPr lang="pt-BR" b="1" dirty="0"/>
              <a:t>37 tabelas</a:t>
            </a:r>
            <a:r>
              <a:rPr lang="pt-BR" dirty="0"/>
              <a:t>, criadas por 14 migrações, </a:t>
            </a:r>
            <a:r>
              <a:rPr lang="pt-BR" b="1" dirty="0"/>
              <a:t>79 permissões sobre 24 recursos</a:t>
            </a:r>
            <a:r>
              <a:rPr lang="pt-BR" dirty="0"/>
              <a:t> e </a:t>
            </a:r>
            <a:r>
              <a:rPr lang="pt-BR" b="1" dirty="0"/>
              <a:t>37 páginas</a:t>
            </a:r>
            <a:r>
              <a:rPr lang="pt-BR" dirty="0"/>
              <a:t> no cliente web.</a:t>
            </a:r>
          </a:p>
          <a:p>
            <a:r>
              <a:rPr lang="pt-BR" dirty="0"/>
              <a:t>O diagrama mostra o núcleo do modelo. Uma decisão importante foi usar </a:t>
            </a:r>
            <a:r>
              <a:rPr lang="pt-BR" b="1" dirty="0"/>
              <a:t>PESSOA</a:t>
            </a:r>
            <a:r>
              <a:rPr lang="pt-BR" dirty="0"/>
              <a:t>, e não USUÁRIO, como entidade principal.</a:t>
            </a:r>
          </a:p>
          <a:p>
            <a:r>
              <a:rPr lang="pt-BR" dirty="0"/>
              <a:t>O papel — aluno, responsável ou professor — vem depois do cadastro, e uma mesma pessoa pode ter mais de um papel.</a:t>
            </a:r>
          </a:p>
          <a:p>
            <a:r>
              <a:rPr lang="pt-BR" dirty="0"/>
              <a:t>Por exemplo, uma professora que também é mãe de um aluno continua sendo </a:t>
            </a:r>
            <a:r>
              <a:rPr lang="pt-BR" b="1" dirty="0"/>
              <a:t>uma única pessoa no sistema, com dois papéis</a:t>
            </a:r>
            <a:r>
              <a:rPr lang="pt-BR" dirty="0"/>
              <a:t>. Isso evita cadastros duplicados e mantém o histórico de quem essa pessoa é.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Chegamos à etapa quatro do DSR: a demonstração. Vou mostrar o sistema funcionando, em quatro momentos.
Antes disso, um registro necessário: todos os dados que aparecem são fictícios. Nenhuma criança, responsável ou profissional real é exibido.
[TROCAR PARA A TELA DO SISTEMA</a:t>
            </a:r>
            <a:r>
              <a:rPr lang="en-US" dirty="0" smtClean="0"/>
              <a:t>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Este é o </a:t>
            </a:r>
            <a:r>
              <a:rPr lang="pt-BR" b="1" dirty="0"/>
              <a:t>resultado central do trabalho</a:t>
            </a:r>
            <a:r>
              <a:rPr lang="pt-BR" dirty="0"/>
              <a:t>.</a:t>
            </a:r>
          </a:p>
          <a:p>
            <a:r>
              <a:rPr lang="pt-BR" dirty="0"/>
              <a:t>Seis personas foram executadas contra o sistema em operação. As colunas representam as crianças, e as células mostram quantos registros foram retornados ou como o acesso foi recusado.</a:t>
            </a:r>
          </a:p>
          <a:p>
            <a:r>
              <a:rPr lang="pt-BR" dirty="0"/>
              <a:t>O ponto principal é que </a:t>
            </a:r>
            <a:r>
              <a:rPr lang="pt-BR" b="1" dirty="0"/>
              <a:t>Théo, Helena e Miguel estudam na mesma turma, mas seus responsáveis não conseguem acessar os registros uns dos outros</a:t>
            </a:r>
            <a:r>
              <a:rPr lang="pt-BR" dirty="0"/>
              <a:t>. O sistema responde com inexistência, mostrando que o isolamento acontece </a:t>
            </a:r>
            <a:r>
              <a:rPr lang="pt-BR" b="1" dirty="0"/>
              <a:t>no nível da criança, e não da turma</a:t>
            </a:r>
            <a:r>
              <a:rPr lang="pt-BR" dirty="0"/>
              <a:t>.</a:t>
            </a:r>
          </a:p>
          <a:p>
            <a:r>
              <a:rPr lang="pt-BR" dirty="0"/>
              <a:t>A professora da Turma A acessa as três crianças da sua turma, mas não acessa Sofia, que está em outra turma. A professora da Turma B não possui acesso a nenhuma delas.</a:t>
            </a:r>
          </a:p>
          <a:p>
            <a:r>
              <a:rPr lang="pt-BR" dirty="0"/>
              <a:t>Por fim, o usuário sem perfil recebe </a:t>
            </a:r>
            <a:r>
              <a:rPr lang="pt-BR" b="1" dirty="0"/>
              <a:t>“proibido”</a:t>
            </a:r>
            <a:r>
              <a:rPr lang="pt-BR" dirty="0"/>
              <a:t>, e não “inexistente”. Esse é o controle negativo: ele mostra que a matriz não está apenas negando todos os acessos.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Três resultados complementares.</a:t>
            </a:r>
          </a:p>
          <a:p>
            <a:r>
              <a:rPr lang="pt-BR" b="1" dirty="0"/>
              <a:t>O primeiro é o menor privilégio.</a:t>
            </a:r>
            <a:r>
              <a:rPr lang="pt-BR" dirty="0"/>
              <a:t> Os cinco perfis variam bastante: o administrador possui 79 permissões, enquanto a secretaria possui apenas 2. O responsável, que é o perfil com mais contas, possui 19 — menos de um quarto do total.</a:t>
            </a:r>
          </a:p>
          <a:p>
            <a:r>
              <a:rPr lang="pt-BR" b="1" dirty="0"/>
              <a:t>O segundo é o desempenho.</a:t>
            </a:r>
            <a:r>
              <a:rPr lang="pt-BR" dirty="0"/>
              <a:t> Com 20 mil postagens e 60 mil comentários, a consulta do </a:t>
            </a:r>
            <a:r>
              <a:rPr lang="pt-BR" dirty="0" err="1"/>
              <a:t>feed</a:t>
            </a:r>
            <a:r>
              <a:rPr lang="pt-BR" dirty="0"/>
              <a:t> levou </a:t>
            </a:r>
            <a:r>
              <a:rPr lang="pt-BR" b="1" dirty="0"/>
              <a:t>3,9 milissegundos</a:t>
            </a:r>
            <a:r>
              <a:rPr lang="pt-BR" dirty="0"/>
              <a:t>. A contagem de comentários e reações já é feita na própria consulta, evitando uma requisição para cada cartão da página.</a:t>
            </a:r>
          </a:p>
          <a:p>
            <a:r>
              <a:rPr lang="pt-BR" b="1" dirty="0"/>
              <a:t>O terceiro é a acessibilidade.</a:t>
            </a:r>
            <a:r>
              <a:rPr lang="pt-BR" dirty="0"/>
              <a:t> Foram auditadas 30 telas com base na WCAG 2.2, nível AA. Não houve violações registradas pela ferramenta, mas a análise de contraste precisou ser feita manualmente, revelando duas falhas que foram corrigidas.</a:t>
            </a:r>
          </a:p>
          <a:p>
            <a:r>
              <a:rPr lang="pt-BR" dirty="0"/>
              <a:t>Também registro um resultado que não atingiu a meta: o </a:t>
            </a:r>
            <a:r>
              <a:rPr lang="pt-BR" dirty="0" err="1"/>
              <a:t>feed</a:t>
            </a:r>
            <a:r>
              <a:rPr lang="pt-BR" dirty="0"/>
              <a:t> deveria ficar em </a:t>
            </a:r>
            <a:r>
              <a:rPr lang="pt-BR" b="1" dirty="0"/>
              <a:t>250 KB</a:t>
            </a:r>
            <a:r>
              <a:rPr lang="pt-BR" dirty="0"/>
              <a:t>, mas chegou a </a:t>
            </a:r>
            <a:r>
              <a:rPr lang="pt-BR" b="1" dirty="0"/>
              <a:t>258 KB</a:t>
            </a:r>
            <a:r>
              <a:rPr lang="pt-BR" dirty="0"/>
              <a:t>. Em vez de mascarar esse resultado com carregamento diferido, ele foi mantido como parte da avaliação.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Este é o achado que mais mudou o desenho do sistema — e é onde a </a:t>
            </a:r>
            <a:r>
              <a:rPr lang="pt-BR" b="1" dirty="0"/>
              <a:t>DSR se mostra na prática</a:t>
            </a:r>
            <a:r>
              <a:rPr lang="pt-BR" dirty="0"/>
              <a:t>.</a:t>
            </a:r>
          </a:p>
          <a:p>
            <a:r>
              <a:rPr lang="pt-BR" dirty="0"/>
              <a:t>A proposta inicial era aplicar automaticamente o consentimento: se uma família não autorizasse uma foto, o sistema bloquearia essa imagem.</a:t>
            </a:r>
          </a:p>
          <a:p>
            <a:r>
              <a:rPr lang="pt-BR" dirty="0"/>
              <a:t>Mas, ao discutir a proposta com a escola parceira, surgiu um problema: </a:t>
            </a:r>
            <a:r>
              <a:rPr lang="pt-BR" b="1" dirty="0"/>
              <a:t>uma foto da turma envolve várias crianças</a:t>
            </a:r>
            <a:r>
              <a:rPr lang="pt-BR" dirty="0"/>
              <a:t>. Se uma família revogar o consentimento, bloquear a foto inteira também impediria as outras famílias de acessar aquele registro.</a:t>
            </a:r>
          </a:p>
          <a:p>
            <a:r>
              <a:rPr lang="pt-BR" dirty="0"/>
              <a:t>Ou seja, um direito individual poderia gerar uma </a:t>
            </a:r>
            <a:r>
              <a:rPr lang="pt-BR" b="1" dirty="0"/>
              <a:t>perda coletiva</a:t>
            </a:r>
            <a:r>
              <a:rPr lang="pt-BR" dirty="0"/>
              <a:t>.</a:t>
            </a:r>
          </a:p>
          <a:p>
            <a:r>
              <a:rPr lang="pt-BR" dirty="0"/>
              <a:t>Por isso, a solução foi alterada. O sistema </a:t>
            </a:r>
            <a:r>
              <a:rPr lang="pt-BR" b="1" dirty="0"/>
              <a:t>registra e disponibiliza o consentimento</a:t>
            </a:r>
            <a:r>
              <a:rPr lang="pt-BR" dirty="0"/>
              <a:t>, mas não bloqueia automaticamente a publicação. Antes de publicar, a professora consulta o painel da turma e verifica as autorizações.</a:t>
            </a:r>
          </a:p>
          <a:p>
            <a:r>
              <a:rPr lang="pt-BR" dirty="0"/>
              <a:t>Assim, o consentimento funciona como </a:t>
            </a:r>
            <a:r>
              <a:rPr lang="pt-BR" b="1" dirty="0"/>
              <a:t>controle administrativo, e não como bloqueio técnico</a:t>
            </a:r>
            <a:r>
              <a:rPr lang="pt-BR" dirty="0"/>
              <a:t>.</a:t>
            </a:r>
          </a:p>
          <a:p>
            <a:r>
              <a:rPr lang="pt-BR" dirty="0"/>
              <a:t>Essa mudança é justamente o resultado que a DSR permite revelar: a solução inicial foi confrontada com a realidade da instituição e precisou ser redesenhada.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</a:t>
            </a:r>
            <a:r>
              <a:rPr lang="en-US" dirty="0" err="1"/>
              <a:t>limitações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assumidas</a:t>
            </a:r>
            <a:r>
              <a:rPr lang="en-US" dirty="0"/>
              <a:t> no </a:t>
            </a:r>
            <a:r>
              <a:rPr lang="en-US" dirty="0" err="1"/>
              <a:t>texto</a:t>
            </a:r>
            <a:r>
              <a:rPr lang="en-US" dirty="0"/>
              <a:t>, 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prefiro</a:t>
            </a:r>
            <a:r>
              <a:rPr lang="en-US" dirty="0"/>
              <a:t> </a:t>
            </a:r>
            <a:r>
              <a:rPr lang="en-US" dirty="0" err="1"/>
              <a:t>trazê-las</a:t>
            </a:r>
            <a:r>
              <a:rPr lang="en-US" dirty="0"/>
              <a:t> antes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banca</a:t>
            </a:r>
            <a:r>
              <a:rPr lang="en-US" dirty="0"/>
              <a:t> precise </a:t>
            </a:r>
            <a:r>
              <a:rPr lang="en-US" dirty="0" err="1"/>
              <a:t>perguntar</a:t>
            </a:r>
            <a:r>
              <a:rPr lang="en-US" dirty="0"/>
              <a:t>.
A principal é a </a:t>
            </a:r>
            <a:r>
              <a:rPr lang="en-US" dirty="0" err="1"/>
              <a:t>ausência</a:t>
            </a:r>
            <a:r>
              <a:rPr lang="en-US" dirty="0"/>
              <a:t> de </a:t>
            </a:r>
            <a:r>
              <a:rPr lang="en-US" dirty="0" err="1"/>
              <a:t>suíte</a:t>
            </a:r>
            <a:r>
              <a:rPr lang="en-US" dirty="0"/>
              <a:t> de testes </a:t>
            </a:r>
            <a:r>
              <a:rPr lang="en-US" dirty="0" err="1"/>
              <a:t>automatizados</a:t>
            </a:r>
            <a:r>
              <a:rPr lang="en-US" dirty="0"/>
              <a:t>.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registrada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dívida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escolha</a:t>
            </a:r>
            <a:r>
              <a:rPr lang="en-US" dirty="0"/>
              <a:t>, e com o </a:t>
            </a:r>
            <a:r>
              <a:rPr lang="en-US" dirty="0" err="1"/>
              <a:t>custo</a:t>
            </a:r>
            <a:r>
              <a:rPr lang="en-US" dirty="0"/>
              <a:t> </a:t>
            </a:r>
            <a:r>
              <a:rPr lang="en-US" dirty="0" err="1"/>
              <a:t>medido</a:t>
            </a:r>
            <a:r>
              <a:rPr lang="en-US" dirty="0"/>
              <a:t>: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regressão</a:t>
            </a:r>
            <a:r>
              <a:rPr lang="en-US" dirty="0"/>
              <a:t> real </a:t>
            </a:r>
            <a:r>
              <a:rPr lang="en-US" dirty="0" err="1"/>
              <a:t>passou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duas</a:t>
            </a:r>
            <a:r>
              <a:rPr lang="en-US" dirty="0"/>
              <a:t> </a:t>
            </a:r>
            <a:r>
              <a:rPr lang="en-US" dirty="0" err="1"/>
              <a:t>alterações</a:t>
            </a:r>
            <a:r>
              <a:rPr lang="en-US" dirty="0"/>
              <a:t> de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percebida</a:t>
            </a:r>
            <a:r>
              <a:rPr lang="en-US" dirty="0"/>
              <a:t>.
A </a:t>
            </a:r>
            <a:r>
              <a:rPr lang="en-US" dirty="0" err="1"/>
              <a:t>segurança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nível</a:t>
            </a:r>
            <a:r>
              <a:rPr lang="en-US" dirty="0"/>
              <a:t> de </a:t>
            </a:r>
            <a:r>
              <a:rPr lang="en-US" dirty="0" err="1"/>
              <a:t>linha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escrita</a:t>
            </a:r>
            <a:r>
              <a:rPr lang="en-US" dirty="0"/>
              <a:t> no </a:t>
            </a:r>
            <a:r>
              <a:rPr lang="en-US" dirty="0" err="1"/>
              <a:t>banco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ativada</a:t>
            </a:r>
            <a:r>
              <a:rPr lang="en-US" dirty="0"/>
              <a:t> — </a:t>
            </a:r>
            <a:r>
              <a:rPr lang="en-US" dirty="0" err="1"/>
              <a:t>então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posso</a:t>
            </a:r>
            <a:r>
              <a:rPr lang="en-US" dirty="0"/>
              <a:t> </a:t>
            </a:r>
            <a:r>
              <a:rPr lang="en-US" dirty="0" err="1"/>
              <a:t>apresentá</a:t>
            </a:r>
            <a:r>
              <a:rPr lang="en-US" dirty="0"/>
              <a:t>-la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barreira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vigor.
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houve</a:t>
            </a:r>
            <a:r>
              <a:rPr lang="en-US" dirty="0"/>
              <a:t> </a:t>
            </a:r>
            <a:r>
              <a:rPr lang="en-US" dirty="0" err="1"/>
              <a:t>avaliação</a:t>
            </a:r>
            <a:r>
              <a:rPr lang="en-US" dirty="0"/>
              <a:t> de </a:t>
            </a:r>
            <a:r>
              <a:rPr lang="en-US" dirty="0" err="1"/>
              <a:t>usabilidade</a:t>
            </a:r>
            <a:r>
              <a:rPr lang="en-US" dirty="0"/>
              <a:t> com </a:t>
            </a:r>
            <a:r>
              <a:rPr lang="en-US" dirty="0" err="1"/>
              <a:t>usuários</a:t>
            </a:r>
            <a:r>
              <a:rPr lang="en-US" dirty="0"/>
              <a:t>. O </a:t>
            </a:r>
            <a:r>
              <a:rPr lang="en-US" dirty="0" err="1"/>
              <a:t>objeto</a:t>
            </a:r>
            <a:r>
              <a:rPr lang="en-US" dirty="0"/>
              <a:t> da </a:t>
            </a:r>
            <a:r>
              <a:rPr lang="en-US" dirty="0" err="1"/>
              <a:t>pesquisa</a:t>
            </a:r>
            <a:r>
              <a:rPr lang="en-US" dirty="0"/>
              <a:t> é a </a:t>
            </a:r>
            <a:r>
              <a:rPr lang="en-US" dirty="0" err="1"/>
              <a:t>corretude</a:t>
            </a:r>
            <a:r>
              <a:rPr lang="en-US" dirty="0"/>
              <a:t> do </a:t>
            </a:r>
            <a:r>
              <a:rPr lang="en-US" dirty="0" err="1"/>
              <a:t>controle</a:t>
            </a:r>
            <a:r>
              <a:rPr lang="en-US" dirty="0"/>
              <a:t> de </a:t>
            </a:r>
            <a:r>
              <a:rPr lang="en-US" dirty="0" err="1"/>
              <a:t>acesso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matriz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; </a:t>
            </a:r>
            <a:r>
              <a:rPr lang="en-US" dirty="0" err="1"/>
              <a:t>não</a:t>
            </a:r>
            <a:r>
              <a:rPr lang="en-US" dirty="0"/>
              <a:t> é a </a:t>
            </a:r>
            <a:r>
              <a:rPr lang="en-US" dirty="0" err="1"/>
              <a:t>experiência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.
Do </a:t>
            </a:r>
            <a:r>
              <a:rPr lang="en-US" dirty="0" err="1"/>
              <a:t>lado</a:t>
            </a:r>
            <a:r>
              <a:rPr lang="en-US" dirty="0"/>
              <a:t> dos </a:t>
            </a:r>
            <a:r>
              <a:rPr lang="en-US" dirty="0" err="1"/>
              <a:t>projetos</a:t>
            </a:r>
            <a:r>
              <a:rPr lang="en-US" dirty="0"/>
              <a:t> </a:t>
            </a:r>
            <a:r>
              <a:rPr lang="en-US" dirty="0" err="1"/>
              <a:t>futuros</a:t>
            </a:r>
            <a:r>
              <a:rPr lang="en-US" dirty="0"/>
              <a:t>, </a:t>
            </a:r>
            <a:r>
              <a:rPr lang="en-US" dirty="0" err="1"/>
              <a:t>destaco</a:t>
            </a:r>
            <a:r>
              <a:rPr lang="en-US" dirty="0"/>
              <a:t> o </a:t>
            </a:r>
            <a:r>
              <a:rPr lang="en-US" dirty="0" err="1"/>
              <a:t>terceiro</a:t>
            </a:r>
            <a:r>
              <a:rPr lang="en-US" dirty="0"/>
              <a:t>: </a:t>
            </a:r>
            <a:r>
              <a:rPr lang="en-US" dirty="0" err="1"/>
              <a:t>verificar</a:t>
            </a:r>
            <a:r>
              <a:rPr lang="en-US" dirty="0"/>
              <a:t> se a </a:t>
            </a:r>
            <a:r>
              <a:rPr lang="en-US" dirty="0" err="1"/>
              <a:t>família</a:t>
            </a:r>
            <a:r>
              <a:rPr lang="en-US" dirty="0"/>
              <a:t> de </a:t>
            </a:r>
            <a:r>
              <a:rPr lang="en-US" dirty="0" err="1"/>
              <a:t>fato</a:t>
            </a:r>
            <a:r>
              <a:rPr lang="en-US" dirty="0"/>
              <a:t> </a:t>
            </a:r>
            <a:r>
              <a:rPr lang="en-US" dirty="0" err="1"/>
              <a:t>compreende</a:t>
            </a:r>
            <a:r>
              <a:rPr lang="en-US" dirty="0"/>
              <a:t> o </a:t>
            </a:r>
            <a:r>
              <a:rPr lang="en-US" dirty="0" err="1"/>
              <a:t>consentimento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lhe</a:t>
            </a:r>
            <a:r>
              <a:rPr lang="en-US" dirty="0"/>
              <a:t> é </a:t>
            </a:r>
            <a:r>
              <a:rPr lang="en-US" dirty="0" err="1"/>
              <a:t>apresentado</a:t>
            </a:r>
            <a:r>
              <a:rPr lang="en-US" dirty="0"/>
              <a:t>. A LGPD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manifestação</a:t>
            </a:r>
            <a:r>
              <a:rPr lang="en-US" dirty="0"/>
              <a:t> </a:t>
            </a:r>
            <a:r>
              <a:rPr lang="en-US" dirty="0" err="1"/>
              <a:t>informada</a:t>
            </a:r>
            <a:r>
              <a:rPr lang="en-US" dirty="0"/>
              <a:t>, e um </a:t>
            </a:r>
            <a:r>
              <a:rPr lang="en-US" dirty="0" err="1"/>
              <a:t>consentimento</a:t>
            </a:r>
            <a:r>
              <a:rPr lang="en-US" dirty="0"/>
              <a:t> </a:t>
            </a:r>
            <a:r>
              <a:rPr lang="en-US" dirty="0" err="1"/>
              <a:t>cuja</a:t>
            </a:r>
            <a:r>
              <a:rPr lang="en-US" dirty="0"/>
              <a:t> interface o titular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entende</a:t>
            </a:r>
            <a:r>
              <a:rPr lang="en-US" dirty="0"/>
              <a:t> </a:t>
            </a:r>
            <a:r>
              <a:rPr lang="en-US" dirty="0" err="1"/>
              <a:t>dificilmente</a:t>
            </a:r>
            <a:r>
              <a:rPr lang="en-US" dirty="0"/>
              <a:t> </a:t>
            </a:r>
            <a:r>
              <a:rPr lang="en-US" dirty="0" err="1"/>
              <a:t>satisfaz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exigência</a:t>
            </a:r>
            <a:r>
              <a:rPr lang="en-US" dirty="0"/>
              <a:t>. </a:t>
            </a:r>
            <a:r>
              <a:rPr lang="en-US" dirty="0" err="1"/>
              <a:t>Isso</a:t>
            </a:r>
            <a:r>
              <a:rPr lang="en-US" dirty="0"/>
              <a:t>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estudo</a:t>
            </a:r>
            <a:r>
              <a:rPr lang="en-US" dirty="0"/>
              <a:t> </a:t>
            </a:r>
            <a:r>
              <a:rPr lang="en-US" dirty="0" err="1"/>
              <a:t>próprio</a:t>
            </a:r>
            <a:r>
              <a:rPr lang="en-US" dirty="0"/>
              <a:t>, com </a:t>
            </a:r>
            <a:r>
              <a:rPr lang="en-US" dirty="0" err="1"/>
              <a:t>instrumento</a:t>
            </a:r>
            <a:r>
              <a:rPr lang="en-US" dirty="0"/>
              <a:t> </a:t>
            </a:r>
            <a:r>
              <a:rPr lang="en-US" dirty="0" err="1"/>
              <a:t>adequado</a:t>
            </a:r>
            <a:r>
              <a:rPr lang="en-US" dirty="0"/>
              <a:t>.
E </a:t>
            </a:r>
            <a:r>
              <a:rPr lang="en-US" dirty="0" err="1"/>
              <a:t>registro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monografia</a:t>
            </a:r>
            <a:r>
              <a:rPr lang="en-US" dirty="0"/>
              <a:t> </a:t>
            </a:r>
            <a:r>
              <a:rPr lang="en-US" dirty="0" err="1"/>
              <a:t>relata</a:t>
            </a:r>
            <a:r>
              <a:rPr lang="en-US" dirty="0"/>
              <a:t> </a:t>
            </a:r>
            <a:r>
              <a:rPr lang="en-US" dirty="0" err="1"/>
              <a:t>seis</a:t>
            </a:r>
            <a:r>
              <a:rPr lang="en-US" dirty="0"/>
              <a:t> </a:t>
            </a:r>
            <a:r>
              <a:rPr lang="en-US" dirty="0" err="1"/>
              <a:t>defeitos</a:t>
            </a:r>
            <a:r>
              <a:rPr lang="en-US" dirty="0"/>
              <a:t> </a:t>
            </a:r>
            <a:r>
              <a:rPr lang="en-US" dirty="0" err="1"/>
              <a:t>encontrados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o </a:t>
            </a:r>
            <a:r>
              <a:rPr lang="en-US" dirty="0" err="1"/>
              <a:t>desenvolvimento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seção</a:t>
            </a:r>
            <a:r>
              <a:rPr lang="en-US" dirty="0"/>
              <a:t> 5.4. O </a:t>
            </a:r>
            <a:r>
              <a:rPr lang="en-US" dirty="0" err="1"/>
              <a:t>mais</a:t>
            </a:r>
            <a:r>
              <a:rPr lang="en-US" dirty="0"/>
              <a:t> grave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revogação</a:t>
            </a:r>
            <a:r>
              <a:rPr lang="en-US" dirty="0"/>
              <a:t> de </a:t>
            </a:r>
            <a:r>
              <a:rPr lang="en-US" dirty="0" err="1"/>
              <a:t>vínculo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respondia</a:t>
            </a:r>
            <a:r>
              <a:rPr lang="en-US" dirty="0"/>
              <a:t> </a:t>
            </a:r>
            <a:r>
              <a:rPr lang="en-US" dirty="0" err="1"/>
              <a:t>sucesso</a:t>
            </a:r>
            <a:r>
              <a:rPr lang="en-US" dirty="0"/>
              <a:t> e </a:t>
            </a:r>
            <a:r>
              <a:rPr lang="en-US" dirty="0" err="1"/>
              <a:t>mantinha</a:t>
            </a:r>
            <a:r>
              <a:rPr lang="en-US" dirty="0"/>
              <a:t> o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até</a:t>
            </a:r>
            <a:r>
              <a:rPr lang="en-US" dirty="0"/>
              <a:t> a </a:t>
            </a:r>
            <a:r>
              <a:rPr lang="en-US" dirty="0" err="1"/>
              <a:t>meia-noite</a:t>
            </a:r>
            <a:r>
              <a:rPr lang="en-US" dirty="0"/>
              <a:t>. A </a:t>
            </a:r>
            <a:r>
              <a:rPr lang="en-US" dirty="0" err="1"/>
              <a:t>lição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tiro</a:t>
            </a:r>
            <a:r>
              <a:rPr lang="en-US" dirty="0"/>
              <a:t> dele </a:t>
            </a:r>
            <a:r>
              <a:rPr lang="en-US" dirty="0" err="1"/>
              <a:t>está</a:t>
            </a:r>
            <a:r>
              <a:rPr lang="en-US" dirty="0"/>
              <a:t> no </a:t>
            </a:r>
            <a:r>
              <a:rPr lang="en-US" dirty="0" err="1"/>
              <a:t>texto</a:t>
            </a:r>
            <a:r>
              <a:rPr lang="en-US" dirty="0"/>
              <a:t>: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controle</a:t>
            </a:r>
            <a:r>
              <a:rPr lang="en-US" dirty="0"/>
              <a:t> de </a:t>
            </a:r>
            <a:r>
              <a:rPr lang="en-US" dirty="0" err="1"/>
              <a:t>acesso</a:t>
            </a:r>
            <a:r>
              <a:rPr lang="en-US" dirty="0"/>
              <a:t>, o </a:t>
            </a:r>
            <a:r>
              <a:rPr lang="en-US" dirty="0" err="1"/>
              <a:t>modo</a:t>
            </a:r>
            <a:r>
              <a:rPr lang="en-US" dirty="0"/>
              <a:t> de </a:t>
            </a:r>
            <a:r>
              <a:rPr lang="en-US" dirty="0" err="1"/>
              <a:t>falha</a:t>
            </a:r>
            <a:r>
              <a:rPr lang="en-US" dirty="0"/>
              <a:t> </a:t>
            </a:r>
            <a:r>
              <a:rPr lang="en-US" dirty="0" err="1"/>
              <a:t>perigoso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é o </a:t>
            </a:r>
            <a:r>
              <a:rPr lang="en-US" dirty="0" err="1"/>
              <a:t>erro</a:t>
            </a:r>
            <a:r>
              <a:rPr lang="en-US" dirty="0"/>
              <a:t> </a:t>
            </a:r>
            <a:r>
              <a:rPr lang="en-US" dirty="0" err="1"/>
              <a:t>visível</a:t>
            </a:r>
            <a:r>
              <a:rPr lang="en-US" dirty="0"/>
              <a:t> — é o </a:t>
            </a:r>
            <a:r>
              <a:rPr lang="en-US" dirty="0" err="1"/>
              <a:t>sucesso</a:t>
            </a:r>
            <a:r>
              <a:rPr lang="en-US" dirty="0"/>
              <a:t> </a:t>
            </a:r>
            <a:r>
              <a:rPr lang="en-US" dirty="0" err="1"/>
              <a:t>aparente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encerrar, três conclusões que o trabalho sustenta.</a:t>
            </a:r>
          </a:p>
          <a:p>
            <a:r>
              <a:rPr lang="pt-BR" b="1" dirty="0"/>
              <a:t>Primeira:</a:t>
            </a:r>
            <a:r>
              <a:rPr lang="pt-BR" dirty="0"/>
              <a:t> permissão e abrangência são eixos distintos. Separá-los permite que famílias com filhos na mesma turma não tenham acesso aos registros umas das outras.</a:t>
            </a:r>
          </a:p>
          <a:p>
            <a:r>
              <a:rPr lang="pt-BR" b="1" dirty="0"/>
              <a:t>Segunda:</a:t>
            </a:r>
            <a:r>
              <a:rPr lang="pt-BR" dirty="0"/>
              <a:t> a </a:t>
            </a:r>
            <a:r>
              <a:rPr lang="pt-BR" dirty="0" err="1"/>
              <a:t>corretude</a:t>
            </a:r>
            <a:r>
              <a:rPr lang="pt-BR" dirty="0"/>
              <a:t> do controle de acesso precisa ser </a:t>
            </a:r>
            <a:r>
              <a:rPr lang="pt-BR" b="1" dirty="0"/>
              <a:t>demonstrada, não apenas afirmada</a:t>
            </a:r>
            <a:r>
              <a:rPr lang="pt-BR" dirty="0"/>
              <a:t>. A matriz de personas, incluindo o controle negativo, permite verificar e repetir essa avaliação no sistema.</a:t>
            </a:r>
          </a:p>
          <a:p>
            <a:r>
              <a:rPr lang="pt-BR" b="1" dirty="0"/>
              <a:t>Terceira:</a:t>
            </a:r>
            <a:r>
              <a:rPr lang="pt-BR" dirty="0"/>
              <a:t> o próprio artefato trouxe um resultado que não estava previsto no início. A recusa da escola à aplicação automática do consentimento não foi um problema de implementação, mas um </a:t>
            </a:r>
            <a:r>
              <a:rPr lang="pt-BR" b="1" dirty="0"/>
              <a:t>resultado da pesquisa</a:t>
            </a:r>
            <a:r>
              <a:rPr lang="pt-BR" dirty="0"/>
              <a:t> que levou a uma mudança no sistema.</a:t>
            </a:r>
          </a:p>
          <a:p>
            <a:r>
              <a:rPr lang="pt-BR" dirty="0"/>
              <a:t>Essas três conclusões resumem a principal contribuição deste trabalho.</a:t>
            </a:r>
          </a:p>
          <a:p>
            <a:r>
              <a:rPr lang="pt-BR" b="1" dirty="0"/>
              <a:t>Obrigado. Fico à disposição para as perguntas da banca.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2C50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3200400"/>
            <a:ext cx="2194560" cy="2194560"/>
          </a:xfrm>
          <a:prstGeom prst="ellipse">
            <a:avLst/>
          </a:prstGeom>
          <a:solidFill>
            <a:srgbClr val="2C50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ZELO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3852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comunicação escola–família com controle de acesso por criança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852928"/>
            <a:ext cx="118872" cy="118872"/>
          </a:xfrm>
          <a:prstGeom prst="ellipse">
            <a:avLst/>
          </a:prstGeom>
          <a:solidFill>
            <a:srgbClr val="D97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1546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Maik Medeiros Moreira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N367FC1  ·  Sistemas de Informação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 — Campus Paraíso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Mario Quinello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O PROBLEMA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fatos que, juntos, criam o risco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1060704"/>
          </a:xfrm>
          <a:prstGeom prst="roundRect">
            <a:avLst>
              <a:gd name="adj" fmla="val 6897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53896"/>
            <a:ext cx="493776" cy="493776"/>
          </a:xfrm>
          <a:prstGeom prst="ellipse">
            <a:avLst/>
          </a:prstGeom>
          <a:solidFill>
            <a:srgbClr val="4E8C82"/>
          </a:solidFill>
          <a:ln w="12700">
            <a:solidFill>
              <a:srgbClr val="4E8C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538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3167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escola infantil produz registro diário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163677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vídeo, relatório de adaptação, recado. O volume é alto e a família quer acompanhar em tempo real.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8138160" cy="1060704"/>
          </a:xfrm>
          <a:prstGeom prst="roundRect">
            <a:avLst>
              <a:gd name="adj" fmla="val 6897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660904"/>
            <a:ext cx="493776" cy="493776"/>
          </a:xfrm>
          <a:prstGeom prst="ellipse">
            <a:avLst/>
          </a:prstGeom>
          <a:solidFill>
            <a:srgbClr val="4E8C82"/>
          </a:solidFill>
          <a:ln w="12700">
            <a:solidFill>
              <a:srgbClr val="4E8C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6609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44752" y="252374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é de criança — e é sensível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284378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menor de idade tem base legal própria (LGPD, art. 14). Consentimento de quem detém a guarda, finalidade específica, revogação a qualquer tempo.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8138160" cy="1060704"/>
          </a:xfrm>
          <a:prstGeom prst="roundRect">
            <a:avLst>
              <a:gd name="adj" fmla="val 6897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67912"/>
            <a:ext cx="493776" cy="493776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867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37307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 por turma não basta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0507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crianças na mesma sala têm três famílias distintas. O relatório do Théo não é assunto da família da Helena.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 TRABALHO RESPONDE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4300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Entregar cada informação</a:t>
            </a:r>
            <a:endParaRPr lang="en-US" sz="34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exatamente quem tem direito a ela.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12648" y="2880360"/>
            <a:ext cx="118872" cy="118872"/>
          </a:xfrm>
          <a:prstGeom prst="ellipse">
            <a:avLst/>
          </a:prstGeom>
          <a:solidFill>
            <a:srgbClr val="D97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3154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nisso tem nome e posição: Broken Access Control é a categoria nº 1 do OWASP Top 10 (A01:2021) — e a forma mais comum é o IDOR, quando trocar um identificador na URL devolve o dado de outra pessoa.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REVISÃO E ANÁLISE DE MERCADO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mercado deixa em aberto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50208" cy="2651760"/>
          </a:xfrm>
          <a:prstGeom prst="roundRect">
            <a:avLst>
              <a:gd name="adj" fmla="val 2759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55648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e feed por turma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comunicados, cardápio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foto e vídeo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para a família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90872" y="1188720"/>
            <a:ext cx="3950208" cy="2651760"/>
          </a:xfrm>
          <a:prstGeom prst="roundRect">
            <a:avLst>
              <a:gd name="adj" fmla="val 2759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65192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aberto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10912" y="1755648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no nível da criança, não da turma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de imagem como registro auditável, com vigência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da coordenação concedido, não presumido pelo cargo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que não revela a existência do dado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0050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lacuna não está na funcionalidade. Está na granularidade da autorização.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OBJETIVOS E DELIMITAÇÃO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 recorte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2984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727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Projetar, construir e verificar uma plataforma de comunicação escola–família cujo modelo de autorização opere em dois eixos — o que a pessoa pode fazer e sobre quais registros — e cuja corretude seja demonstrada empiricamente.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706624"/>
            <a:ext cx="146304" cy="146304"/>
          </a:xfrm>
          <a:prstGeom prst="ellipse">
            <a:avLst/>
          </a:prstGeom>
          <a:solidFill>
            <a:srgbClr val="4E8C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2478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no escopo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74320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infantil. Esta primeira versão é integralmente voltada a esse segmento: é nele que o vínculo responsável–criança é mais estrito e o registro do dia, mais intenso.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3730752"/>
            <a:ext cx="146304" cy="146304"/>
          </a:xfrm>
          <a:prstGeom prst="ellipse">
            <a:avLst/>
          </a:prstGeom>
          <a:solidFill>
            <a:srgbClr val="D97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502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767328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para borramento de rosto. Retirada por decisão técnica e jurídica: o NISTIR 8280 documenta falso positivo elevado em crianças pequenas, e treinar o modelo exigiria imagens reais de menores.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— METODOLOGIA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Science Research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artefato é o instrumento da pesquisa: constrói-se para aprender com o que a construção revela. Seis etapas (Peffers et al., 2007).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783080"/>
            <a:ext cx="420624" cy="420624"/>
          </a:xfrm>
          <a:prstGeom prst="ellipse">
            <a:avLst/>
          </a:prstGeom>
          <a:solidFill>
            <a:srgbClr val="4E8C82"/>
          </a:solidFill>
          <a:ln w="12700">
            <a:solidFill>
              <a:srgbClr val="4E8C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7784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57784" y="2596896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por criança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2808" y="160020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22576" y="1783080"/>
            <a:ext cx="420624" cy="420624"/>
          </a:xfrm>
          <a:prstGeom prst="ellipse">
            <a:avLst/>
          </a:prstGeom>
          <a:solidFill>
            <a:srgbClr val="4E8C82"/>
          </a:solidFill>
          <a:ln w="12700">
            <a:solidFill>
              <a:srgbClr val="4E8C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22576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47672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47672" y="2596896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eixos + auditoria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82696" y="160020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1783080"/>
            <a:ext cx="420624" cy="420624"/>
          </a:xfrm>
          <a:prstGeom prst="ellipse">
            <a:avLst/>
          </a:prstGeom>
          <a:solidFill>
            <a:srgbClr val="4E8C82"/>
          </a:solidFill>
          <a:ln w="12700">
            <a:solidFill>
              <a:srgbClr val="4E8C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2464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596896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 arquitetura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72584" y="160020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02352" y="1783080"/>
            <a:ext cx="420624" cy="420624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02352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27448" y="2596896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operação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62472" y="160020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1783080"/>
            <a:ext cx="420624" cy="420624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117336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117336" y="2596896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personas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160020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82128" y="1783080"/>
            <a:ext cx="420624" cy="420624"/>
          </a:xfrm>
          <a:prstGeom prst="ellipse">
            <a:avLst/>
          </a:prstGeom>
          <a:solidFill>
            <a:srgbClr val="4E8C82"/>
          </a:solidFill>
          <a:ln w="12700">
            <a:solidFill>
              <a:srgbClr val="4E8C8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8212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07224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507224" y="2596896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Monografia e banca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456432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22960" y="3602736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feita na escola parceira: as etapas 4 e 5 confrontaram o projeto com a operação real — e é de lá que vem o achado mais importante do trabalho, no slide final de resultados.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— O MODELO DE AUTORIZAÇÃO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contribuição: autorização em dois eixos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50208" cy="1188720"/>
          </a:xfrm>
          <a:prstGeom prst="roundRect">
            <a:avLst>
              <a:gd name="adj" fmla="val 6154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170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 — Capacidade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4356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ação a pessoa pode executar.  RBAC clássico (Sandhu et al., 1996).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865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VIEW:POST · CREATE:POST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90872" y="1078992"/>
            <a:ext cx="3950208" cy="1188720"/>
          </a:xfrm>
          <a:prstGeom prst="roundRect">
            <a:avLst>
              <a:gd name="adj" fmla="val 6154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92624" y="1170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2 — Abrangência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14356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quais registros essa ação alcança.  É o que este trabalho acrescenta.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92624" y="1865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PROPRIA · TURMA · ESCOLA</a:t>
            </a:r>
            <a:endParaRPr lang="en-US" sz="1050" dirty="0"/>
          </a:p>
        </p:txBody>
      </p:sp>
      <p:pic>
        <p:nvPicPr>
          <p:cNvPr id="12" name="Image 0" descr="/tmp/fig3_eix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395728"/>
            <a:ext cx="5486400" cy="23509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— ORIGENS DA ABRANGÊNCIA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cargo confere acesso automático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633472" cy="2395728"/>
          </a:xfrm>
          <a:prstGeom prst="roundRect">
            <a:avLst>
              <a:gd name="adj" fmla="val 3053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2984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60934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3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RESPONSAVEL_ALUNO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3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MATRICULA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194560"/>
            <a:ext cx="22311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responsável alcança a turma porque tem filho matriculado nela. O caminho é o vínculo, nunca o cargo.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55264" y="1143000"/>
            <a:ext cx="2633472" cy="2395728"/>
          </a:xfrm>
          <a:prstGeom prst="roundRect">
            <a:avLst>
              <a:gd name="adj" fmla="val 3053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56432" y="12984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Docência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160934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3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PROFESSOR_TURMA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2194560"/>
            <a:ext cx="22311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professora alcança a turma em que está atribuída, com função e vigência registradas. Trocar de turma é encerrar um vínculo e criar outro.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07608" y="1143000"/>
            <a:ext cx="2633472" cy="2395728"/>
          </a:xfrm>
          <a:prstGeom prst="roundRect">
            <a:avLst>
              <a:gd name="adj" fmla="val 3053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08776" y="12984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Concessão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160934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3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ACESSO_TURMA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08776" y="2194560"/>
            <a:ext cx="22311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Coordenação, direção e secretaria precisam de concessão explícita: quem concedeu, quando, com que justificativa e até quando.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1F3A3D"/>
          </a:solidFill>
          <a:ln w="6350">
            <a:solidFill>
              <a:srgbClr val="1F3A3D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78561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coordenadora enxerga a turma porque alguém concedeu — em uma data, com justificativa e com prazo. O cargo não é atalho.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— A FORMA DA RECUSA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do escopo responde 404, não 403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50208" cy="1508760"/>
          </a:xfrm>
          <a:prstGeom prst="roundRect">
            <a:avLst>
              <a:gd name="adj" fmla="val 4848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280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 Forbidden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62763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"Existe, mas você não pode."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a existência do registro — e isso já é informação sobre a criança.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90872" y="1143000"/>
            <a:ext cx="3950208" cy="1508760"/>
          </a:xfrm>
          <a:prstGeom prst="roundRect">
            <a:avLst>
              <a:gd name="adj" fmla="val 4848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92624" y="1280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8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92624" y="162763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"Para você, não existe."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recurso fora da abrangência é indistinguível de um recurso que nunca existiu.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944368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improviso: a RFC 9110 prevê expressamente o uso do 404 quando o servidor deseja não revelar a existência do recurso ao solicitante não autorizado.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822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 fica reservado para "falta a permissão". 404 para "está fora do seu escopo". A distinção é o que torna a matriz de verificação interpretável.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— ENGENHARIA DE SOFTWARE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 implantação</a:t>
            </a:r>
            <a:endParaRPr lang="en-US" sz="3200" dirty="0"/>
          </a:p>
        </p:txBody>
      </p:sp>
      <p:pic>
        <p:nvPicPr>
          <p:cNvPr id="4" name="Image 0" descr="/tmp/fig4_implant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035040" cy="284561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188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85432" y="12801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ORM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85432" y="1527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decisão: o filtro de abrangência mora dentro do SQL, e não atrás de uma abstração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720840" y="23774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85432" y="246888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85432" y="271576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nunca fala com a API — só com o servidor de renderização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20840" y="3566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885432" y="36576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Poliglota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85432" y="390448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transacional · MongoDB para o registro de eventos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— O ARTEFATO PRODUZIDO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efetivamente construído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1064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35.700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110642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TypeScript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" y="18379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183794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de API — 1 pública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" y="25694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256946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· 14 migrações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8368" y="33009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7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30098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· 24 recursos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" y="40325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03250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no cliente web</a:t>
            </a:r>
            <a:endParaRPr lang="en-US" sz="950" dirty="0"/>
          </a:p>
        </p:txBody>
      </p:sp>
      <p:pic>
        <p:nvPicPr>
          <p:cNvPr id="19" name="Image 0" descr="/tmp/fig6_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051560"/>
            <a:ext cx="5577840" cy="37453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291840" cy="3291840"/>
          </a:xfrm>
          <a:prstGeom prst="ellipse">
            <a:avLst/>
          </a:prstGeom>
          <a:solidFill>
            <a:srgbClr val="2C50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DO DSR — DEMONSTRAÇÃO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686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em operação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7955280" cy="658368"/>
          </a:xfrm>
          <a:prstGeom prst="roundRect">
            <a:avLst>
              <a:gd name="adj" fmla="val 8333"/>
            </a:avLst>
          </a:prstGeom>
          <a:solidFill>
            <a:srgbClr val="2C5054"/>
          </a:solidFill>
          <a:ln w="12700">
            <a:solidFill>
              <a:srgbClr val="2C5054"/>
            </a:solidFill>
            <a:prstDash val="solid"/>
          </a:ln>
          <a:effectLst>
            <a:outerShdw blurRad="101600" dist="508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975104"/>
            <a:ext cx="365760" cy="365760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9019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menu por permissão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9019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tela de login para todos; o menu se monta do que a sessão permite.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7955280" cy="658368"/>
          </a:xfrm>
          <a:prstGeom prst="roundRect">
            <a:avLst>
              <a:gd name="adj" fmla="val 8333"/>
            </a:avLst>
          </a:prstGeom>
          <a:solidFill>
            <a:srgbClr val="2C5054"/>
          </a:solidFill>
          <a:ln w="12700">
            <a:solidFill>
              <a:srgbClr val="2C5054"/>
            </a:solidFill>
            <a:prstDash val="solid"/>
          </a:ln>
          <a:effectLst>
            <a:outerShdw blurRad="101600" dist="508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2706624"/>
            <a:ext cx="365760" cy="365760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63347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escolhendo a audiência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3347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inteira ou alunos nomeados — dois modos exclusivos.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291840"/>
            <a:ext cx="7955280" cy="658368"/>
          </a:xfrm>
          <a:prstGeom prst="roundRect">
            <a:avLst>
              <a:gd name="adj" fmla="val 8333"/>
            </a:avLst>
          </a:prstGeom>
          <a:solidFill>
            <a:srgbClr val="2C5054"/>
          </a:solidFill>
          <a:ln w="12700">
            <a:solidFill>
              <a:srgbClr val="2C5054"/>
            </a:solidFill>
            <a:prstDash val="solid"/>
          </a:ln>
          <a:effectLst>
            <a:outerShdw blurRad="101600" dist="508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3438144"/>
            <a:ext cx="365760" cy="365760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36499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origens do escopo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3649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Vínculo, atribuição docente e concessão explícita, cada uma em sua tela.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023360"/>
            <a:ext cx="7955280" cy="658368"/>
          </a:xfrm>
          <a:prstGeom prst="roundRect">
            <a:avLst>
              <a:gd name="adj" fmla="val 8333"/>
            </a:avLst>
          </a:prstGeom>
          <a:solidFill>
            <a:srgbClr val="2C5054"/>
          </a:solidFill>
          <a:ln w="12700">
            <a:solidFill>
              <a:srgbClr val="2C5054"/>
            </a:solidFill>
            <a:prstDash val="solid"/>
          </a:ln>
          <a:effectLst>
            <a:outerShdw blurRad="101600" dist="508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4169664"/>
            <a:ext cx="365760" cy="365760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09651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prova: a mesma URL, dois responsáveis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09651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vê o registro; o outro recebe 404.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6680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dados exibidos são fictícios. Nenhuma criança, responsável ou profissional real aparece.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— AVALIAÇÃO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verificação do isolamento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personas executadas contra o sistema em operação. As células indicam quantos registros retornaram — ou a forma da recusa.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2112264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280160"/>
                <a:gridCol w="1280160"/>
                <a:gridCol w="1280160"/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Théo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Miguel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pelo Théo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pela Helena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pelo Miguel e pela Sofia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Professora da Turma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Professora da Turma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2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 sem perfil algum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proibido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proibido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proibido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proibido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67588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3785616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Théo, Helena e Miguel estudam na MESMA sala. </a:t>
            </a:r>
            <a:r>
              <a:rPr lang="en-US" sz="11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recusa cruzada entre os três responsáveis é a propriedade central do trabalho — o isolamento acontece no nível da criança, não da turma. A última linha é o controle negativo: sem ela, um sistema que nega tudo pareceria correto.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— RESULTADOS COMPLEMENTARES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privilégio, desempenho, acessibilidade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3950208" cy="2743200"/>
          </a:xfrm>
          <a:prstGeom prst="roundRect">
            <a:avLst>
              <a:gd name="adj" fmla="val 2667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por perfil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62763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29968" y="1682496"/>
            <a:ext cx="2148840" cy="146304"/>
          </a:xfrm>
          <a:prstGeom prst="roundRect">
            <a:avLst>
              <a:gd name="adj" fmla="val 18750"/>
            </a:avLst>
          </a:prstGeom>
          <a:solidFill>
            <a:srgbClr val="4E8C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33672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5681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29968" y="2011680"/>
            <a:ext cx="2012837" cy="146304"/>
          </a:xfrm>
          <a:prstGeom prst="roundRect">
            <a:avLst>
              <a:gd name="adj" fmla="val 18750"/>
            </a:avLst>
          </a:prstGeom>
          <a:solidFill>
            <a:srgbClr val="4E8C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97669" y="1956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28600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29968" y="2340864"/>
            <a:ext cx="979218" cy="146304"/>
          </a:xfrm>
          <a:prstGeom prst="roundRect">
            <a:avLst>
              <a:gd name="adj" fmla="val 18750"/>
            </a:avLst>
          </a:prstGeom>
          <a:solidFill>
            <a:srgbClr val="4E8C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405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61518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29968" y="2670048"/>
            <a:ext cx="516810" cy="146304"/>
          </a:xfrm>
          <a:prstGeom prst="roundRect">
            <a:avLst>
              <a:gd name="adj" fmla="val 18750"/>
            </a:avLst>
          </a:prstGeom>
          <a:solidFill>
            <a:srgbClr val="D97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1642" y="26151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294436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29968" y="2999232"/>
            <a:ext cx="109728" cy="146304"/>
          </a:xfrm>
          <a:prstGeom prst="roundRect">
            <a:avLst>
              <a:gd name="adj" fmla="val 25000"/>
            </a:avLst>
          </a:prstGeom>
          <a:solidFill>
            <a:srgbClr val="4E8C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9456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346704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responsável é o perfil com mais contas — e detém 19 das 79 permissões do catálogo. Menos de um quarto.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90872" y="1115568"/>
            <a:ext cx="3950208" cy="1316736"/>
          </a:xfrm>
          <a:prstGeom prst="roundRect">
            <a:avLst>
              <a:gd name="adj" fmla="val 5556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992624" y="122529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 ms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992624" y="166420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do feed com 20.000 postagens e 60.000 comentários, por varredura de índice em bitmap. A contagem de reações e comentários já vem na projeção — sem isso seriam 20 requisições por página.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90872" y="2542032"/>
            <a:ext cx="3950208" cy="1316736"/>
          </a:xfrm>
          <a:prstGeom prst="roundRect">
            <a:avLst>
              <a:gd name="adj" fmla="val 5556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992624" y="265176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violações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992624" y="3090672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telas auditadas contra a WCAG 2.2 nível AA. O contraste foi calculado manualmente, símbolo a símbolo: duas falhas reais encontradas e corrigidas.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7045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também o que não fechou: o orçamento de 250 KB para a página de feed chegou a 258 — 207 são do arcabouço e 51 da aplicação.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5.5 — O ACHADO DA PESQUISA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consentimento é registrado — não aplicado automaticamente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19072"/>
            <a:ext cx="7955280" cy="932688"/>
          </a:xfrm>
          <a:prstGeom prst="roundRect">
            <a:avLst>
              <a:gd name="adj" fmla="val 5882"/>
            </a:avLst>
          </a:prstGeom>
          <a:solidFill>
            <a:srgbClr val="2C5054"/>
          </a:solidFill>
          <a:ln w="12700">
            <a:solidFill>
              <a:srgbClr val="2C5054"/>
            </a:solidFill>
            <a:prstDash val="solid"/>
          </a:ln>
          <a:effectLst>
            <a:outerShdw blurRad="101600" dist="508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7406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E8E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 a professora postar uma foto da classe toda, quando uma família colocar depois que não quer que o filho dela apareça, todas as outras famílias vão ser punidas."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8833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objeção da instituição parceira à aplicação automática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099816"/>
            <a:ext cx="109728" cy="109728"/>
          </a:xfrm>
          <a:prstGeom prst="ellipse">
            <a:avLst/>
          </a:prstGeom>
          <a:solidFill>
            <a:srgbClr val="D97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01752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objeção generaliza: uma foto retrata N crianças, e a revogação de uma família ocultaria a imagem das N famílias.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D97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438144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automação que parecia realizar o princípio de soma positiva (Cavoukian, 2009) produziria, na prática, soma negativa.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941064"/>
            <a:ext cx="109728" cy="109728"/>
          </a:xfrm>
          <a:prstGeom prst="ellipse">
            <a:avLst/>
          </a:prstGeom>
          <a:solidFill>
            <a:srgbClr val="D97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858768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expõe o painel de consentimento por turma: a professora consulta antes de publicar. Controle administrativo, não técnico.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5.6 E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assumidas e o que vem depois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50208" cy="2834640"/>
          </a:xfrm>
          <a:prstGeom prst="roundRect">
            <a:avLst>
              <a:gd name="adj" fmla="val 2581"/>
            </a:avLst>
          </a:prstGeom>
          <a:solidFill>
            <a:srgbClr val="F7F4F0"/>
          </a:solidFill>
          <a:ln w="6350">
            <a:solidFill>
              <a:srgbClr val="F7F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4015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suíte de testes automatizados — registrada como dívida, com o custo medido: uma regressão passou duas alterações de código.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nível de linha escrita no banco, porém não ativada.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avaliação de usabilidade com usuários — o objeto é a corretude do acesso, não a experiência de uso.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de inicialização versionadas, a aposentar antes de qualquer implantação.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90872" y="1143000"/>
            <a:ext cx="3950208" cy="2834640"/>
          </a:xfrm>
          <a:prstGeom prst="roundRect">
            <a:avLst>
              <a:gd name="adj" fmla="val 2581"/>
            </a:avLst>
          </a:prstGeom>
          <a:solidFill>
            <a:srgbClr val="EDF2F1"/>
          </a:solidFill>
          <a:ln w="6350">
            <a:solidFill>
              <a:srgbClr val="EDF2F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92624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futuros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10912" y="1645920"/>
            <a:ext cx="34015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automatizada cobrindo a matriz de personas como teste de regressão.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a segurança em nível de linha como segunda barreira, sob a aplicação.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próprio sobre se a família compreende o consentimento que lhe é apresentado — a LGPD exige manifestação informada.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o borramento seletivo, se e quando houver base de validação eticamente sustentável.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45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defeitos instrutivos estão relatados na seção 5.4 — inclusive o mais grave: uma revogação que respondia sucesso e mantinha o acesso até a meia-noite.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651760"/>
            <a:ext cx="3840480" cy="3840480"/>
          </a:xfrm>
          <a:prstGeom prst="ellipse">
            <a:avLst/>
          </a:prstGeom>
          <a:solidFill>
            <a:srgbClr val="2C50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21208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trabalho sustenta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2C5054"/>
          </a:solidFill>
          <a:ln w="12700">
            <a:solidFill>
              <a:srgbClr val="2C5054"/>
            </a:solidFill>
            <a:prstDash val="solid"/>
          </a:ln>
          <a:effectLst>
            <a:outerShdw blurRad="101600" dist="508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00784"/>
            <a:ext cx="384048" cy="384048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e abrangência são eixos distintos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47088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Tratá-los como um só é o que produz o IDOR. Separá-los é o que permite que três famílias da mesma sala não se vejam.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432304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2C5054"/>
          </a:solidFill>
          <a:ln w="12700">
            <a:solidFill>
              <a:srgbClr val="2C5054"/>
            </a:solidFill>
            <a:prstDash val="solid"/>
          </a:ln>
          <a:effectLst>
            <a:outerShdw blurRad="101600" dist="508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" y="2670048"/>
            <a:ext cx="384048" cy="384048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5420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Corretude de acesso se demonstra, não se afirma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816352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personas, com controle negativo, é o instrumento — e é reexecutável.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401568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2C5054"/>
          </a:solidFill>
          <a:ln w="12700">
            <a:solidFill>
              <a:srgbClr val="2C5054"/>
            </a:solidFill>
            <a:prstDash val="solid"/>
          </a:ln>
          <a:effectLst>
            <a:outerShdw blurRad="101600" dist="508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3639312"/>
            <a:ext cx="384048" cy="384048"/>
          </a:xfrm>
          <a:prstGeom prst="ellipse">
            <a:avLst/>
          </a:prstGeom>
          <a:solidFill>
            <a:srgbClr val="D97642"/>
          </a:solidFill>
          <a:ln w="12700">
            <a:solidFill>
              <a:srgbClr val="D976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51129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artefato ensinou o que o projeto não previa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78561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recusa da aplicação automática do consentimento é resultado de pesquisa, não contratempo de implementação.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44398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 Fico à disposição para as perguntas da banca.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3915</Words>
  <Application>Microsoft Office PowerPoint</Application>
  <PresentationFormat>Apresentação na tela (16:9)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Zelo — TCC</dc:title>
  <dc:subject>PptxGenJS Presentation</dc:subject>
  <dc:creator>Maik Medeiros Moreira</dc:creator>
  <cp:lastModifiedBy>Maik Medeiros</cp:lastModifiedBy>
  <cp:revision>25</cp:revision>
  <dcterms:created xsi:type="dcterms:W3CDTF">2026-09-12T13:59:57Z</dcterms:created>
  <dcterms:modified xsi:type="dcterms:W3CDTF">2026-09-18T15:36:05Z</dcterms:modified>
</cp:coreProperties>
</file>